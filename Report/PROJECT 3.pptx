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eague Spartan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225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42518" y="1660205"/>
            <a:ext cx="6822015" cy="389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7413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HEALTHCA</a:t>
            </a:r>
            <a:r>
              <a:rPr lang="en-US" b="true" sz="7413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 ANALYTICS WITH SQL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199816" y="-2226291"/>
            <a:ext cx="5340801" cy="5340801"/>
            <a:chOff x="0" y="0"/>
            <a:chExt cx="7121068" cy="7121068"/>
          </a:xfrm>
        </p:grpSpPr>
        <p:grpSp>
          <p:nvGrpSpPr>
            <p:cNvPr name="Group 7" id="7"/>
            <p:cNvGrpSpPr/>
            <p:nvPr/>
          </p:nvGrpSpPr>
          <p:grpSpPr>
            <a:xfrm rot="8100000">
              <a:off x="571824" y="1513889"/>
              <a:ext cx="5977420" cy="4093291"/>
              <a:chOff x="0" y="0"/>
              <a:chExt cx="1180725" cy="8085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5400000">
              <a:off x="182434" y="3986984"/>
              <a:ext cx="4144703" cy="2122862"/>
              <a:chOff x="0" y="0"/>
              <a:chExt cx="1388556" cy="71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-10800000">
            <a:off x="14019340" y="7616599"/>
            <a:ext cx="5340801" cy="5340801"/>
            <a:chOff x="0" y="0"/>
            <a:chExt cx="7121068" cy="7121068"/>
          </a:xfrm>
        </p:grpSpPr>
        <p:grpSp>
          <p:nvGrpSpPr>
            <p:cNvPr name="Group 14" id="14"/>
            <p:cNvGrpSpPr/>
            <p:nvPr/>
          </p:nvGrpSpPr>
          <p:grpSpPr>
            <a:xfrm rot="8100000">
              <a:off x="571824" y="1513889"/>
              <a:ext cx="5977420" cy="4093291"/>
              <a:chOff x="0" y="0"/>
              <a:chExt cx="1180725" cy="80855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5400000">
              <a:off x="182434" y="3986984"/>
              <a:ext cx="4144703" cy="2122862"/>
              <a:chOff x="0" y="0"/>
              <a:chExt cx="1388556" cy="71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5400000">
            <a:off x="-837898" y="7624976"/>
            <a:ext cx="3523645" cy="2162352"/>
            <a:chOff x="0" y="0"/>
            <a:chExt cx="4698194" cy="2883136"/>
          </a:xfrm>
        </p:grpSpPr>
        <p:grpSp>
          <p:nvGrpSpPr>
            <p:cNvPr name="Group 21" id="21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-5400000">
            <a:off x="15602252" y="556822"/>
            <a:ext cx="3523645" cy="2162352"/>
            <a:chOff x="0" y="0"/>
            <a:chExt cx="4698194" cy="2883136"/>
          </a:xfrm>
        </p:grpSpPr>
        <p:grpSp>
          <p:nvGrpSpPr>
            <p:cNvPr name="Group 28" id="28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2526515" y="6849080"/>
            <a:ext cx="12801023" cy="173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8"/>
              </a:lnSpc>
            </a:pPr>
            <a:r>
              <a:rPr lang="en-US" sz="5013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A.BHARATHI</a:t>
            </a:r>
          </a:p>
          <a:p>
            <a:pPr algn="ctr">
              <a:lnSpc>
                <a:spcPts val="7018"/>
              </a:lnSpc>
            </a:pPr>
            <a:r>
              <a:rPr lang="en-US" sz="5013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BATCH CODE:BMAI-S-WD-T-B15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-809323" y="538896"/>
            <a:ext cx="3523645" cy="2162352"/>
            <a:chOff x="0" y="0"/>
            <a:chExt cx="4698194" cy="2883136"/>
          </a:xfrm>
        </p:grpSpPr>
        <p:grpSp>
          <p:nvGrpSpPr>
            <p:cNvPr name="Group 12" id="12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10800000">
            <a:off x="13981240" y="7616599"/>
            <a:ext cx="5340801" cy="5340801"/>
            <a:chOff x="0" y="0"/>
            <a:chExt cx="7121068" cy="7121068"/>
          </a:xfrm>
        </p:grpSpPr>
        <p:grpSp>
          <p:nvGrpSpPr>
            <p:cNvPr name="Group 19" id="19"/>
            <p:cNvGrpSpPr/>
            <p:nvPr/>
          </p:nvGrpSpPr>
          <p:grpSpPr>
            <a:xfrm rot="8100000">
              <a:off x="571824" y="1513889"/>
              <a:ext cx="5977420" cy="4093291"/>
              <a:chOff x="0" y="0"/>
              <a:chExt cx="1180725" cy="8085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182434" y="3986984"/>
              <a:ext cx="4144703" cy="2122862"/>
              <a:chOff x="0" y="0"/>
              <a:chExt cx="1388556" cy="711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1686965" y="2970282"/>
            <a:ext cx="15089564" cy="408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PROJECT ANALYZES PATIENT-DOCTOR INTERACTIONS USING STRUCTURED HEALTHCARE DATA AND SQL QUERIES TO DERIVE ACTIONABLE INSIGHTS.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GOALS: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PRACTICE ADVANCED SQL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ANALYZE HEALTHCARE DATA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DERIVE BUSINESS INSIGHTS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3017907"/>
            <a:ext cx="363988" cy="36398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793722" y="1356669"/>
            <a:ext cx="8700556" cy="59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8"/>
              </a:lnSpc>
            </a:pPr>
            <a:r>
              <a:rPr lang="en-US" b="true" sz="353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AND GOALS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4961506"/>
            <a:ext cx="363988" cy="36398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SUMM</a:t>
            </a:r>
            <a:r>
              <a:rPr lang="en-US" b="true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ARY</a:t>
            </a:r>
          </a:p>
        </p:txBody>
      </p:sp>
      <p:graphicFrame>
        <p:nvGraphicFramePr>
          <p:cNvPr name="Object 26" id="26"/>
          <p:cNvGraphicFramePr/>
          <p:nvPr/>
        </p:nvGraphicFramePr>
        <p:xfrm>
          <a:off x="2767081" y="3171464"/>
          <a:ext cx="2514600" cy="2514600"/>
        </p:xfrm>
        <a:graphic>
          <a:graphicData uri="http://schemas.openxmlformats.org/presentationml/2006/ole">
            <p:oleObj imgW="3009900" imgH="3009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1: INNER AND EQUI JOINS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WRITE A QUERY TO FETCH DETAILS OF ALL COMPLETED APPOINTMENTS, INCLUDING THE PATIENT’S NAME, DOCTOR’S NAME, AND SPECIALIZATION.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 CAN IDENTIFY WHICH DOCTORS ARE MOST INVOLVED IN SUCCESSFUL (COMPLETED) APPOINTMENTS AND ANALYZE PATIENT ENGAGEMENT PER SPECIALIZATION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RETRIEVE ALL PATIENTS WHO HAVE NEVER HAD AN APPOINTMENT. INCLUDE THEIR NAME, CONTACT DETAILS, AND ADDRESS IN THE OUTPUT.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89241" y="5090120"/>
            <a:ext cx="13309517" cy="117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THESE PATIENTS MAY NEED OUTREACH OR FOLLOW-UP. THIS INSIGHT HELPS IN IMPROVING PATIENT ONBOARDING AND RETENTION EFFORTS.</a:t>
            </a:r>
          </a:p>
          <a:p>
            <a:pPr algn="l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896439" y="1381458"/>
            <a:ext cx="10137754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2: LEFT JOIN WITH NULL HANDLING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68042" y="3075335"/>
            <a:ext cx="13337335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FIND THE TOTAL NUMBER OF DIAGNOSES FOR EACH DOCTOR, INCLUDING DOCTORS WHO HAVEN’T DIAGNOSED ANY PATIENTS. DISPLAY THE DOCTOR’S NAME, SPECIALIZATION, AND TOTAL DIAGNOSES.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89241" y="5090120"/>
            <a:ext cx="13309517" cy="117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REVEALS DOCTOR WORKLOAD. DOCTORS WITH NO DIAGNOSES MIGHT BE UNDERUTILIZED, WHILE THOSE WITH MANY MAY BE OVERBURDENED — USEFUL FOR STAFF WORKLOAD BALANCING.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75123" y="1112894"/>
            <a:ext cx="10137754" cy="2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3: RIGHT JOIN AND AGGREGATE FUNCTIONS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68042" y="3075335"/>
            <a:ext cx="13337335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WRITE A QUERY TO IDENTIFY MISMATCHES BETWEEN THE APPOINTMENTS AND DIAGNOSES TABLES. INCLUDE ALL APPOINTMENTS AND DIAGNOSES WITH THEIR CORRESPONDING PATIENT AND DOCTOR DETAILS.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89241" y="5090120"/>
            <a:ext cx="14770059" cy="195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9"/>
              </a:lnSpc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SHOWS INCONSISTENCIES SUCH AS:</a:t>
            </a:r>
          </a:p>
          <a:p>
            <a:pPr algn="just" marL="479494" indent="-239747" lvl="1">
              <a:lnSpc>
                <a:spcPts val="3109"/>
              </a:lnSpc>
              <a:buFont typeface="Arial"/>
              <a:buChar char="•"/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DIAGNOSES NOT LINKED TO APPOINTMENTS (POSSIBLE DATA ERROR)</a:t>
            </a:r>
          </a:p>
          <a:p>
            <a:pPr algn="just" marL="479494" indent="-239747" lvl="1">
              <a:lnSpc>
                <a:spcPts val="3109"/>
              </a:lnSpc>
              <a:buFont typeface="Arial"/>
              <a:buChar char="•"/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APPOINTMENTS WITH NO FOLLOW-UP DIAGNOSES (MIGHT INDICATE SKIPPED ASSESSMENTS)</a:t>
            </a:r>
          </a:p>
          <a:p>
            <a:pPr algn="just">
              <a:lnSpc>
                <a:spcPts val="3109"/>
              </a:lnSpc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SUPPORTS DATA QUALITY AUDITING AND CLINICAL COMPLETENESS.</a:t>
            </a:r>
          </a:p>
          <a:p>
            <a:pPr algn="l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4075123" y="1112894"/>
            <a:ext cx="10137754" cy="306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4: FULL JOIN FOR OVERLAPPING DATA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542" y="1386068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544762" y="1103370"/>
            <a:ext cx="919847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5:WINDOW FUNCTIONS (RANKING AND AGGREGATION)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:FOR EACH DOCTOR, RANK THEIR PATIENTS BASED ON THE NUMBER OF APPOINTMENTS IN DESCENDING ORDER.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195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</a:p>
          <a:p>
            <a:pPr algn="just" marL="479494" indent="-239747" lvl="1">
              <a:lnSpc>
                <a:spcPts val="3109"/>
              </a:lnSpc>
              <a:buFont typeface="Arial"/>
              <a:buChar char="•"/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HIGH-FREQUENCY PATIENTS WHO MAY NEED CHRONIC CARE.</a:t>
            </a:r>
          </a:p>
          <a:p>
            <a:pPr algn="just" marL="479494" indent="-239747" lvl="1">
              <a:lnSpc>
                <a:spcPts val="3109"/>
              </a:lnSpc>
              <a:buFont typeface="Arial"/>
              <a:buChar char="•"/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PATIENT LOYALTY OR DEPENDENCY PER DOCTOR.</a:t>
            </a:r>
          </a:p>
          <a:p>
            <a:pPr algn="just" marL="479494" indent="-239747" lvl="1">
              <a:lnSpc>
                <a:spcPts val="3109"/>
              </a:lnSpc>
              <a:buFont typeface="Arial"/>
              <a:buChar char="•"/>
            </a:pP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GREAT FOR PATIENT SEGMENTATION AND PERSONALIZED CARE STRATEGIES.</a:t>
            </a:r>
          </a:p>
          <a:p>
            <a:pPr algn="just">
              <a:lnSpc>
                <a:spcPts val="31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6:CONDITIONAL EXPRESSIONS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WRITE A QUERY TO CATEGORIZE PATIENTS BY AGE GROUP (E.G., 18-30, 31-50, 51+). COUNT THE NUMBER OF PATIENTS IN EACH AGE GROUP.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39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OFFERS DEMOGRAPHIC SEGMENTATION OF YOUR PATIENT BASE.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544762" y="1103370"/>
            <a:ext cx="919847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7: NUMERIC AND STRING FUNCTIONS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RETRIEVE A LIST OF PATIENTS WHOSE CONTACT NUMBERS END WITH "1234" AND DISPLAY THEIR NAMES IN UPPERCASE.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HELPS IN VALIDATING CONTACT DATA AND SEGMENTING FOR TARGETED COMMUNICATION.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544762" y="1103370"/>
            <a:ext cx="919847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8: OFFERS DEMOGRAPHIC SEGMENTATION OF YOUR PATIENT BASE.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FIND PATIENTS WHO HAVE ONLY BEEN PRESCRIBED "INSULIN" IN ANY OF THEIR DIAGNOSES.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IDENTIFIES DIABETIC PATIENTS EXCLUSIVELY USING INSULIN, USEFUL FOR CHRONIC CARE SEGMENTATION.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9:DATE AND TIME FUNCTIONS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CALCULATE THE AVERAGE DURATION (IN DAYS) FOR WHICH MEDICATIONS ARE PRESCRIBED FOR EACH DIAGNOSIS.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CALCULATES TREATMENT DURATION TO ANALYZE SHORT-TERM VS LONG-TERM MEDICATION NEEDS.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103370"/>
            <a:ext cx="919847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10:COMPLEX JOINS AND AGGREGATION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WRITE A QUERY TO IDENTIFY THE DOCTOR WHO HAS ATTENDED THE MOST UNIQUE PATIENTS. INCLUDE THE DOCTOR’S NAME, SPECIALIZATION, AND THE COUNT OF UNIQUE PATIENTS.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REVEALS THE MOST CONSULTED DOCTOR, INDICATING POPULARITY, EFFECTIVENESS, OR POSSIBLE OVERWORK.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544762" y="1399861"/>
            <a:ext cx="919847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11: MOST COMMON DIAGNOSES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WHAT ARE THE TOP 5 MOST COMMON DIAGNOSES GIVEN ACROSS ALL APPOINTMENTS?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39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HELPS IDENTIFY PREVALENT HEALTH ISSUES IN THE PATIENT POPULATION.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12:FREQUENT PATIENTS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WHICH PATIENTS HAD HIGHEST VISITED?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39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IDENTIFY PATIENTS NEEDING CONTINUOUS CARE OR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058535"/>
            <a:ext cx="9198476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13: MONTHLY APPOINTMENT TRENDS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WHAT IS THE NUMBER OF APPOINTMENTS SCHEDULED EACH MONTH?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39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ANALYZE TRENDS IN PATIENT ACTIVITY OVER TIME.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14:CUSTOM ANALYTICAL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WHAT IS THE AVERAGE NUMBER OF APPOINTMENTS PER PATIENT 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78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MEASURES PATIENT ENGAGEMENT AND FREQUENCY. A HIGH VALUE MAY SUGGEST CHRONIC TREATMENT NEEDS OR PATIENT TRUST.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359" y="7178473"/>
            <a:ext cx="5340801" cy="5523679"/>
            <a:chOff x="0" y="0"/>
            <a:chExt cx="7121068" cy="7364905"/>
          </a:xfrm>
        </p:grpSpPr>
        <p:grpSp>
          <p:nvGrpSpPr>
            <p:cNvPr name="Group 6" id="6"/>
            <p:cNvGrpSpPr/>
            <p:nvPr/>
          </p:nvGrpSpPr>
          <p:grpSpPr>
            <a:xfrm rot="-8100000">
              <a:off x="571824" y="1757726"/>
              <a:ext cx="5977420" cy="4093291"/>
              <a:chOff x="0" y="0"/>
              <a:chExt cx="1180725" cy="808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28691" y="1010921"/>
              <a:ext cx="4144703" cy="2122862"/>
              <a:chOff x="0" y="0"/>
              <a:chExt cx="1388556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15583202" y="642547"/>
            <a:ext cx="3523645" cy="2162352"/>
            <a:chOff x="0" y="0"/>
            <a:chExt cx="4698194" cy="2883136"/>
          </a:xfrm>
        </p:grpSpPr>
        <p:grpSp>
          <p:nvGrpSpPr>
            <p:cNvPr name="Group 13" id="13"/>
            <p:cNvGrpSpPr/>
            <p:nvPr/>
          </p:nvGrpSpPr>
          <p:grpSpPr>
            <a:xfrm rot="-2833171">
              <a:off x="549530" y="297221"/>
              <a:ext cx="1810279" cy="2288694"/>
              <a:chOff x="0" y="0"/>
              <a:chExt cx="290456" cy="3672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76784"/>
              <a:ext cx="4698194" cy="2406352"/>
              <a:chOff x="0" y="0"/>
              <a:chExt cx="1388556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8564174" y="-3276094"/>
            <a:ext cx="1335145" cy="10137754"/>
            <a:chOff x="0" y="0"/>
            <a:chExt cx="285629" cy="2168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476428" y="-3372605"/>
            <a:ext cx="1335145" cy="10137754"/>
            <a:chOff x="0" y="0"/>
            <a:chExt cx="285629" cy="2168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629" cy="2168778"/>
            </a:xfrm>
            <a:custGeom>
              <a:avLst/>
              <a:gdLst/>
              <a:ahLst/>
              <a:cxnLst/>
              <a:rect r="r" b="b" t="t" l="l"/>
              <a:pathLst>
                <a:path h="2168778" w="285629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0D2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anchor="ctr" rtlCol="false" tIns="62541" lIns="62541" bIns="62541" rIns="6254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32509" y="1391935"/>
            <a:ext cx="919847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15: MOST APPOINTMENTS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68042" y="3075335"/>
            <a:ext cx="1333733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WHICH DAY OF THE WEEK HAS THE MOST APPOINTMENTS?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9241" y="5090120"/>
            <a:ext cx="13309517" cy="117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  <a:spcBef>
                <a:spcPct val="0"/>
              </a:spcBef>
            </a:pPr>
            <a:r>
              <a:rPr lang="en-US" sz="2220">
                <a:solidFill>
                  <a:srgbClr val="1E4B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INSIGHTS: </a:t>
            </a:r>
            <a:r>
              <a:rPr lang="en-US" sz="22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HELPS YOU IDENTIFY PEAK DAYS IN YOUR HOSPITAL OR CLINIC SCHEDULE. FOR EXAMPLE, IF MONDAYS ARE BUSIEST, YOU MIGHT WANT TO ALLOCATE MORE STAFF OR EXTEND WORKING HOURS.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27397" y="3808557"/>
            <a:ext cx="11633205" cy="240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9"/>
              </a:lnSpc>
            </a:pPr>
            <a:r>
              <a:rPr lang="en-US" b="true" sz="14056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286323" y="6274308"/>
            <a:ext cx="6892670" cy="7128686"/>
            <a:chOff x="0" y="0"/>
            <a:chExt cx="9190227" cy="9504915"/>
          </a:xfrm>
        </p:grpSpPr>
        <p:grpSp>
          <p:nvGrpSpPr>
            <p:cNvPr name="Group 7" id="7"/>
            <p:cNvGrpSpPr/>
            <p:nvPr/>
          </p:nvGrpSpPr>
          <p:grpSpPr>
            <a:xfrm rot="-8100000">
              <a:off x="737978" y="2268465"/>
              <a:ext cx="7714271" cy="5282673"/>
              <a:chOff x="0" y="0"/>
              <a:chExt cx="1180725" cy="8085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80725" cy="808551"/>
              </a:xfrm>
              <a:custGeom>
                <a:avLst/>
                <a:gdLst/>
                <a:ahLst/>
                <a:cxnLst/>
                <a:rect r="r" b="b" t="t" l="l"/>
                <a:pathLst>
                  <a:path h="808551" w="1180725">
                    <a:moveTo>
                      <a:pt x="0" y="0"/>
                    </a:moveTo>
                    <a:lnTo>
                      <a:pt x="1180725" y="0"/>
                    </a:lnTo>
                    <a:lnTo>
                      <a:pt x="1180725" y="808551"/>
                    </a:lnTo>
                    <a:lnTo>
                      <a:pt x="0" y="808551"/>
                    </a:lnTo>
                    <a:close/>
                  </a:path>
                </a:pathLst>
              </a:custGeom>
              <a:solidFill>
                <a:srgbClr val="0D2F6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1180725" cy="8371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5400000">
              <a:off x="166085" y="1304662"/>
              <a:ext cx="5349023" cy="2739698"/>
              <a:chOff x="0" y="0"/>
              <a:chExt cx="1388556" cy="71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FFB23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-5400000">
            <a:off x="13617425" y="1153557"/>
            <a:ext cx="5971858" cy="3664744"/>
            <a:chOff x="0" y="0"/>
            <a:chExt cx="7962477" cy="4886325"/>
          </a:xfrm>
        </p:grpSpPr>
        <p:grpSp>
          <p:nvGrpSpPr>
            <p:cNvPr name="Group 14" id="14"/>
            <p:cNvGrpSpPr/>
            <p:nvPr/>
          </p:nvGrpSpPr>
          <p:grpSpPr>
            <a:xfrm rot="-2833171">
              <a:off x="931341" y="503728"/>
              <a:ext cx="3068052" cy="3878869"/>
              <a:chOff x="0" y="0"/>
              <a:chExt cx="290456" cy="36721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0456" cy="367217"/>
              </a:xfrm>
              <a:custGeom>
                <a:avLst/>
                <a:gdLst/>
                <a:ahLst/>
                <a:cxnLst/>
                <a:rect r="r" b="b" t="t" l="l"/>
                <a:pathLst>
                  <a:path h="367217" w="290456">
                    <a:moveTo>
                      <a:pt x="0" y="0"/>
                    </a:moveTo>
                    <a:lnTo>
                      <a:pt x="290456" y="0"/>
                    </a:lnTo>
                    <a:lnTo>
                      <a:pt x="290456" y="367217"/>
                    </a:lnTo>
                    <a:lnTo>
                      <a:pt x="0" y="367217"/>
                    </a:lnTo>
                    <a:close/>
                  </a:path>
                </a:pathLst>
              </a:custGeom>
              <a:solidFill>
                <a:srgbClr val="F7C61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90456" cy="395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808051"/>
              <a:ext cx="7962477" cy="4078275"/>
              <a:chOff x="0" y="0"/>
              <a:chExt cx="1388556" cy="71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88556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388556">
                    <a:moveTo>
                      <a:pt x="694278" y="0"/>
                    </a:moveTo>
                    <a:lnTo>
                      <a:pt x="1388556" y="711200"/>
                    </a:lnTo>
                    <a:lnTo>
                      <a:pt x="0" y="711200"/>
                    </a:lnTo>
                    <a:lnTo>
                      <a:pt x="694278" y="0"/>
                    </a:lnTo>
                    <a:close/>
                  </a:path>
                </a:pathLst>
              </a:custGeom>
              <a:solidFill>
                <a:srgbClr val="1E4B8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216962" y="301625"/>
                <a:ext cx="954632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DAGsRsMMD6o</dc:identifier>
  <dcterms:modified xsi:type="dcterms:W3CDTF">2011-08-01T06:04:30Z</dcterms:modified>
  <cp:revision>1</cp:revision>
  <dc:title>Customer Demographics and Purchase Behavior Analysis</dc:title>
</cp:coreProperties>
</file>